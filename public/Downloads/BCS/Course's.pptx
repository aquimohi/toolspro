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ABCD-4669-38C9-E28E-8CB04F5A1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C2679-C913-BCFE-6B88-A9A3665F2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FBB85-BB40-6F77-6D78-9C14BBC2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5519-D68B-612E-FE74-DFDE3AE7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F8E21-587B-7519-DEC1-4BAE2BCD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5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3501-540A-F971-29DE-B782213D1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E2BC8-6C7F-83EE-AB9E-0F068179E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C18DE-066A-5131-EA10-883BD5B48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A2E7-1545-AE98-E2AB-BE054623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147F7-7AF1-7E32-32B1-041F889B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96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1E85-34FA-0599-7064-A69E76FC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7BFF6-78CB-11D7-2E80-9F683682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3B53C-C7AF-575C-8902-D03A0D1A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5F90E-EAE2-D0D1-9776-5D4F6B6A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1D9CE-5005-42FF-D1BE-3FCC454D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26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EC495-F36A-87B3-2A07-6115A7339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0B425-4037-B669-56F7-A927A6173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E105D-E7A5-9736-1C16-E35B97EC5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5BF0D-3886-1D7A-AC6B-06976D81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33582-1E35-74DD-11D2-88BDB1D4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17284-1414-C637-E843-51C9C64C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999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457CB-2870-4711-2BEE-FEEE2BA4D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955EA-CD63-636B-0A3F-EAC0233AC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9452C-0D9D-8823-B801-FC2F2E2EA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7E0C5-DB66-C4B1-E5E3-E66907404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CCF6D-B60E-E538-FE31-8618C634AB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131F86-49FD-6DD8-5A18-07475F5A2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EC5CDF-E2DA-1A5B-6B57-DF3E12B2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0E3E8-3764-D687-41E7-71A5B656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14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56DB-AAB7-190E-B8CA-B8A7F990F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19F61-4AC2-EAFA-84F4-7F7464B89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C2602-003A-6933-68FB-59F4215D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52DD45-3021-0317-3795-C752D394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24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E24610-419B-F349-0089-61E0950D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B9505-8386-D729-5E39-937304C0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72956-7EAD-BE9B-81BA-CFAF5966D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43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49F9-C648-FE84-0B6B-D4384C2B2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CE58F-7894-F3A3-EA15-155A6796C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3829A-1E5C-4B6C-BC72-513A89AED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E591F-A3CB-BF44-42AE-FBF9DD11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5A45C-F046-FAF7-9EBA-DE0CA211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654DE-7F13-2880-F2D0-B19465C8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5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5D1F-0273-3B85-1EB8-6320C01E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5D097-1FE5-54A9-5F2E-4BAB01272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B4C73-9BE8-8048-8C8D-2F8E6395D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4AFD0-BF76-7CE4-4B6F-65A2C482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160CC-4781-2699-62B3-B294F40C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B021E-1072-E935-D70A-9D3462CF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D34F-21B8-96F1-9019-CB9ED8977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3C61B-883E-A86B-F6A0-087C0DC37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02C0-373C-B871-E652-D68363BC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53F2-AC22-7C11-577F-4F57BB103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9CF9-BECB-87D8-E70D-21F3BC9B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79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C8218-6DF9-569B-2E1B-188CFE70B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3C8CA-C8E8-81E9-DEE2-0EEB19878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CFFD6-AE8D-52FB-E751-A6B1A1EA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8DBE0-842B-040C-A92B-53DD8D16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97C4-1F5D-A07D-2B5C-2B40F94C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41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C7FB5F-F06D-A8D0-1DE4-91E2AE3A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61368-FB6E-6348-D66A-7C85FD921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CC959-79EB-E5A8-9BDE-D22D9C3395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34731-1D97-44A6-841C-00CF83F2FD06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64FC-3181-82E5-18AA-AD02538E6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1C6D-2EF9-F991-F61E-DF41D9695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9C9A1-1D36-47C5-9277-C934C5E872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17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https://www.edx.org/business" TargetMode="External"/><Relationship Id="rId3" Type="http://schemas.openxmlformats.org/officeDocument/2006/relationships/hyperlink" Target="https://www.coursera.org/business" TargetMode="External"/><Relationship Id="rId7" Type="http://schemas.openxmlformats.org/officeDocument/2006/relationships/hyperlink" Target="https://www.google.com/search?q=https://www.pluralsight.com/business" TargetMode="External"/><Relationship Id="rId2" Type="http://schemas.openxmlformats.org/officeDocument/2006/relationships/hyperlink" Target="https://business.udemy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https://www.upgrad.com/enterprise/" TargetMode="External"/><Relationship Id="rId11" Type="http://schemas.openxmlformats.org/officeDocument/2006/relationships/hyperlink" Target="https://www.google.com/search?q=https://www.greatlearning.in/business" TargetMode="External"/><Relationship Id="rId5" Type="http://schemas.openxmlformats.org/officeDocument/2006/relationships/hyperlink" Target="https://www.google.com/search?q=https://www.simplilearn.com/enterprise" TargetMode="External"/><Relationship Id="rId10" Type="http://schemas.openxmlformats.org/officeDocument/2006/relationships/hyperlink" Target="https://www.niit.com/india/" TargetMode="External"/><Relationship Id="rId4" Type="http://schemas.openxmlformats.org/officeDocument/2006/relationships/hyperlink" Target="https://learning.linkedin.com/" TargetMode="External"/><Relationship Id="rId9" Type="http://schemas.openxmlformats.org/officeDocument/2006/relationships/hyperlink" Target="https://talentsprint.com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usiness.udemy.com/plans/?utm_source=direct&amp;utm_medium=direc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oursera.org/business/compare-plan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earning.linkedin.com/compare-plans#businesse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7C839D-C584-C11A-B14F-DA753DAAF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9621484"/>
              </p:ext>
            </p:extLst>
          </p:nvPr>
        </p:nvGraphicFramePr>
        <p:xfrm>
          <a:off x="235973" y="1140543"/>
          <a:ext cx="11828206" cy="4474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894">
                  <a:extLst>
                    <a:ext uri="{9D8B030D-6E8A-4147-A177-3AD203B41FA5}">
                      <a16:colId xmlns:a16="http://schemas.microsoft.com/office/drawing/2014/main" val="2918406358"/>
                    </a:ext>
                  </a:extLst>
                </a:gridCol>
                <a:gridCol w="1182023">
                  <a:extLst>
                    <a:ext uri="{9D8B030D-6E8A-4147-A177-3AD203B41FA5}">
                      <a16:colId xmlns:a16="http://schemas.microsoft.com/office/drawing/2014/main" val="1133626314"/>
                    </a:ext>
                  </a:extLst>
                </a:gridCol>
                <a:gridCol w="619433">
                  <a:extLst>
                    <a:ext uri="{9D8B030D-6E8A-4147-A177-3AD203B41FA5}">
                      <a16:colId xmlns:a16="http://schemas.microsoft.com/office/drawing/2014/main" val="656470612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383660348"/>
                    </a:ext>
                  </a:extLst>
                </a:gridCol>
                <a:gridCol w="963561">
                  <a:extLst>
                    <a:ext uri="{9D8B030D-6E8A-4147-A177-3AD203B41FA5}">
                      <a16:colId xmlns:a16="http://schemas.microsoft.com/office/drawing/2014/main" val="537244646"/>
                    </a:ext>
                  </a:extLst>
                </a:gridCol>
                <a:gridCol w="963028">
                  <a:extLst>
                    <a:ext uri="{9D8B030D-6E8A-4147-A177-3AD203B41FA5}">
                      <a16:colId xmlns:a16="http://schemas.microsoft.com/office/drawing/2014/main" val="1304807400"/>
                    </a:ext>
                  </a:extLst>
                </a:gridCol>
                <a:gridCol w="590469">
                  <a:extLst>
                    <a:ext uri="{9D8B030D-6E8A-4147-A177-3AD203B41FA5}">
                      <a16:colId xmlns:a16="http://schemas.microsoft.com/office/drawing/2014/main" val="1894693865"/>
                    </a:ext>
                  </a:extLst>
                </a:gridCol>
                <a:gridCol w="403123">
                  <a:extLst>
                    <a:ext uri="{9D8B030D-6E8A-4147-A177-3AD203B41FA5}">
                      <a16:colId xmlns:a16="http://schemas.microsoft.com/office/drawing/2014/main" val="1675696668"/>
                    </a:ext>
                  </a:extLst>
                </a:gridCol>
                <a:gridCol w="953736">
                  <a:extLst>
                    <a:ext uri="{9D8B030D-6E8A-4147-A177-3AD203B41FA5}">
                      <a16:colId xmlns:a16="http://schemas.microsoft.com/office/drawing/2014/main" val="1574015602"/>
                    </a:ext>
                  </a:extLst>
                </a:gridCol>
                <a:gridCol w="1288019">
                  <a:extLst>
                    <a:ext uri="{9D8B030D-6E8A-4147-A177-3AD203B41FA5}">
                      <a16:colId xmlns:a16="http://schemas.microsoft.com/office/drawing/2014/main" val="847933057"/>
                    </a:ext>
                  </a:extLst>
                </a:gridCol>
                <a:gridCol w="1641985">
                  <a:extLst>
                    <a:ext uri="{9D8B030D-6E8A-4147-A177-3AD203B41FA5}">
                      <a16:colId xmlns:a16="http://schemas.microsoft.com/office/drawing/2014/main" val="1532744960"/>
                    </a:ext>
                  </a:extLst>
                </a:gridCol>
              </a:tblGrid>
              <a:tr h="52947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Website / Institute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Price  approx.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No. of Courses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Course Categories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Certificates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Certificates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Direct Link</a:t>
                      </a:r>
                      <a:endParaRPr lang="en-IN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>
                          <a:effectLst/>
                        </a:rPr>
                        <a:t>Rating</a:t>
                      </a:r>
                      <a:endParaRPr lang="en-IN" sz="105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Medium Team (21-100 People)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Large Enterprise (100+ People)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50" b="1" u="none" strike="noStrike" dirty="0">
                          <a:effectLst/>
                        </a:rPr>
                        <a:t>Best Team Feature</a:t>
                      </a:r>
                      <a:endParaRPr lang="en-IN" sz="1050" b="1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589980055"/>
                  </a:ext>
                </a:extLst>
              </a:tr>
              <a:tr h="52947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1. Udemy Business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₹24,000 - ₹30,000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25,000+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IT, AI, Design, Soft Skills, Marketing</a:t>
                      </a:r>
                      <a:endParaRPr lang="en-GB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(Completion)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(Completion)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2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4.7/5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₹28,000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(Big Discount)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Course Assignment &amp; Tracking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936586693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2. Coursera for Biz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₹33,000 - ₹38,000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AI, Data Science, University Degrees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(University)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(University)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3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4.8/5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₹32,000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Quote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sv-SE" sz="1000" u="none" strike="noStrike">
                          <a:effectLst/>
                        </a:rPr>
                        <a:t>Skills Graph (Skill Gap Analysis)</a:t>
                      </a:r>
                      <a:endParaRPr lang="sv-SE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2318697134"/>
                  </a:ext>
                </a:extLst>
              </a:tr>
              <a:tr h="5251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3. LinkedIn Learning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₹18,000 - ₹22,000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22,000+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Business, Creative, Tech, Leadership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(Skill Badge)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(Skill Badge)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4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4.6/5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₹20,000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Volume Based Pricing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LinkedIn Profile Integration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4089621919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 Simplilearn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₹80,000 - ₹1.5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AI, Cloud, Cyber Security, Data</a:t>
                      </a:r>
                      <a:endParaRPr lang="en-GB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(Industry)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(Industry)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5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4.6/5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₹1.2L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Corporate Deal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Live Instructor-led Sessions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1084802448"/>
                  </a:ext>
                </a:extLst>
              </a:tr>
              <a:tr h="5251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5. upGrad Enterprise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₹1.2 Lakh - ₹4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200+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it-IT" sz="1000" u="none" strike="noStrike">
                          <a:effectLst/>
                        </a:rPr>
                        <a:t>MBA, Data Science, AI Strategy</a:t>
                      </a:r>
                      <a:endParaRPr lang="it-IT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(Degree/PG)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(Degree/PG)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6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4.5/5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₹1.5L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Managed Learning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Industry Mentorship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731044606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6. Pluralsight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₹35,000 - ₹65,000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000" u="none" strike="noStrike">
                          <a:effectLst/>
                        </a:rPr>
                        <a:t>IT Ops, Software Dev, Cyber Security</a:t>
                      </a:r>
                      <a:endParaRPr lang="en-GB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(Technical)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(Technical)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7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4.5/5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₹35,000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(Skills Strategy)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Hands-on Coding Labs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2696571575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7. edX for Business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₹40,000 - ₹1.2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Academic, AI, Engineering, Science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(Executive)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(Executive)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8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4.7/5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₹40,000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(Degree paths)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Academic Rigor (Top Univs)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112604767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8. TalentSprint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₹1.5 Lakh - ₹8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50+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Deep Tech, GenAI, Fintech, Management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(IIT/IISc)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(IIT/IISc)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9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4.8/5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₹2L+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Premium Exec Training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Elite IIT/IISc Certificates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1129236577"/>
                  </a:ext>
                </a:extLst>
              </a:tr>
              <a:tr h="2917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9. NIIT Digital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₹60,000 - ₹2.5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Banking, IT, Digital Marketing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(Diploma)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(Diploma)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10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4.4/5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b"/>
                </a:tc>
                <a:extLst>
                  <a:ext uri="{0D108BD9-81ED-4DB2-BD59-A6C34878D82A}">
                    <a16:rowId xmlns:a16="http://schemas.microsoft.com/office/drawing/2014/main" val="3518775193"/>
                  </a:ext>
                </a:extLst>
              </a:tr>
              <a:tr h="52519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10. Great Learning</a:t>
                      </a:r>
                      <a:endParaRPr lang="en-IN" sz="1000" b="1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₹1.0 Lakh - ₹3 Lakh*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1,000+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Business Analytics, AI, Cloud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(Global Univ)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Yes (Global Univ)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u="sng" strike="noStrike">
                          <a:effectLst/>
                          <a:hlinkClick r:id="rId11"/>
                        </a:rPr>
                        <a:t>Visit Site</a:t>
                      </a:r>
                      <a:endParaRPr lang="en-IN" sz="10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4.7/5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09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₹1.0L / user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Custom Program Design</a:t>
                      </a:r>
                      <a:endParaRPr lang="en-IN" sz="1000" b="0" i="0" u="none" strike="noStrike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 dirty="0">
                          <a:effectLst/>
                        </a:rPr>
                        <a:t>Career Support &amp; Capstone</a:t>
                      </a:r>
                      <a:endParaRPr lang="en-IN" sz="1000" b="0" i="0" u="none" strike="noStrike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281" marR="4809" marT="4809" marB="0" anchor="ctr"/>
                </a:tc>
                <a:extLst>
                  <a:ext uri="{0D108BD9-81ED-4DB2-BD59-A6C34878D82A}">
                    <a16:rowId xmlns:a16="http://schemas.microsoft.com/office/drawing/2014/main" val="1060916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21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09D50A4E-54F2-57E9-3818-B35A04069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48" y="0"/>
            <a:ext cx="11425085" cy="6716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A5F23E-9C40-7A6E-9DBB-4C39C01DBE45}"/>
              </a:ext>
            </a:extLst>
          </p:cNvPr>
          <p:cNvSpPr txBox="1"/>
          <p:nvPr/>
        </p:nvSpPr>
        <p:spPr>
          <a:xfrm>
            <a:off x="8809702" y="6550223"/>
            <a:ext cx="3008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For Link : </a:t>
            </a:r>
            <a:r>
              <a:rPr lang="en-IN" sz="1400" dirty="0" err="1"/>
              <a:t>Ctrl+Right</a:t>
            </a:r>
            <a:r>
              <a:rPr lang="en-IN" sz="1400" dirty="0"/>
              <a:t> Click</a:t>
            </a:r>
          </a:p>
        </p:txBody>
      </p:sp>
    </p:spTree>
    <p:extLst>
      <p:ext uri="{BB962C8B-B14F-4D97-AF65-F5344CB8AC3E}">
        <p14:creationId xmlns:p14="http://schemas.microsoft.com/office/powerpoint/2010/main" val="3687155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029E9009-AF36-5D60-4F55-3586DE5E1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4" y="243564"/>
            <a:ext cx="12139712" cy="63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2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7715C9-8BD1-EC25-F6F1-1240D360AB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20" b="9534"/>
          <a:stretch>
            <a:fillRect/>
          </a:stretch>
        </p:blipFill>
        <p:spPr>
          <a:xfrm>
            <a:off x="-1" y="0"/>
            <a:ext cx="5313333" cy="6858000"/>
          </a:xfrm>
          <a:prstGeom prst="rect">
            <a:avLst/>
          </a:prstGeom>
        </p:spPr>
      </p:pic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C66CD0C9-7F2E-0CB2-0396-E1F548D3F5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5" b="62581"/>
          <a:stretch>
            <a:fillRect/>
          </a:stretch>
        </p:blipFill>
        <p:spPr>
          <a:xfrm>
            <a:off x="4604347" y="68827"/>
            <a:ext cx="7492540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389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466</Words>
  <Application>Microsoft Office PowerPoint</Application>
  <PresentationFormat>Widescreen</PresentationFormat>
  <Paragraphs>119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Kumar</dc:creator>
  <cp:lastModifiedBy>Mohit Kumar</cp:lastModifiedBy>
  <cp:revision>1</cp:revision>
  <dcterms:created xsi:type="dcterms:W3CDTF">2026-02-19T11:58:15Z</dcterms:created>
  <dcterms:modified xsi:type="dcterms:W3CDTF">2026-02-19T12:07:50Z</dcterms:modified>
</cp:coreProperties>
</file>